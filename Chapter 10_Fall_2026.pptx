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344" r:id="rId2"/>
    <p:sldId id="416" r:id="rId3"/>
    <p:sldId id="428" r:id="rId4"/>
    <p:sldId id="435" r:id="rId5"/>
    <p:sldId id="437" r:id="rId6"/>
    <p:sldId id="429" r:id="rId7"/>
    <p:sldId id="438" r:id="rId8"/>
    <p:sldId id="443" r:id="rId9"/>
    <p:sldId id="44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B539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28"/>
    <p:restoredTop sz="78273" autoAdjust="0"/>
  </p:normalViewPr>
  <p:slideViewPr>
    <p:cSldViewPr snapToGrid="0" snapToObjects="1">
      <p:cViewPr varScale="1">
        <p:scale>
          <a:sx n="61" d="100"/>
          <a:sy n="61" d="100"/>
        </p:scale>
        <p:origin x="13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 Mohan" userId="88f4b4da-8dca-46b3-95ca-729f40a86975" providerId="ADAL" clId="{51B8FFEB-B4AF-4B4E-AAE0-8796815F75F1}"/>
    <pc:docChg chg="modSld">
      <pc:chgData name="Madhur Mohan" userId="88f4b4da-8dca-46b3-95ca-729f40a86975" providerId="ADAL" clId="{51B8FFEB-B4AF-4B4E-AAE0-8796815F75F1}" dt="2026-10-15T03:18:14.820" v="0" actId="6549"/>
      <pc:docMkLst>
        <pc:docMk/>
      </pc:docMkLst>
      <pc:sldChg chg="modNotesTx">
        <pc:chgData name="Madhur Mohan" userId="88f4b4da-8dca-46b3-95ca-729f40a86975" providerId="ADAL" clId="{51B8FFEB-B4AF-4B4E-AAE0-8796815F75F1}" dt="2026-10-15T03:18:14.820" v="0" actId="6549"/>
        <pc:sldMkLst>
          <pc:docMk/>
          <pc:sldMk cId="1804465271" sldId="4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478D-2017-6B42-82DF-31F349C5E37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6EEE4-7788-8D4C-B106-DDC1CC62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7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955AC-BBE9-A144-BEA0-0A44958C1A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23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42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48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Including physical and tangible clues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3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94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87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01E-9A4F-DEFD-51E1-D1CAB03E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32F4F-7384-01C6-65A3-EA13A27B8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8B4EC-C9D5-D2A6-91F7-06D376E7E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192A4-DCC6-A866-3641-CBF56434F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35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3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262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4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4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4EE006-398F-E147-9CF2-66454FD34446}"/>
              </a:ext>
            </a:extLst>
          </p:cNvPr>
          <p:cNvSpPr txBox="1"/>
          <p:nvPr/>
        </p:nvSpPr>
        <p:spPr>
          <a:xfrm>
            <a:off x="0" y="2129587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10</a:t>
            </a:r>
            <a:endParaRPr lang="en-US" sz="4000" dirty="0">
              <a:solidFill>
                <a:srgbClr val="820002"/>
              </a:solidFill>
              <a:latin typeface="Garamond" panose="02020404030301010803" pitchFamily="18" charset="0"/>
            </a:endParaRPr>
          </a:p>
          <a:p>
            <a:pPr algn="ctr"/>
            <a:endParaRPr lang="en-US" sz="3800" dirty="0">
              <a:latin typeface="Garamond" panose="02020404030301010803" pitchFamily="18" charset="0"/>
            </a:endParaRPr>
          </a:p>
          <a:p>
            <a:pPr algn="ctr"/>
            <a:r>
              <a:rPr lang="en-US" sz="3800" dirty="0">
                <a:latin typeface="Garamond" panose="02020404030301010803" pitchFamily="18" charset="0"/>
              </a:rPr>
              <a:t>Physical Evidence and the Servicescape</a:t>
            </a:r>
          </a:p>
        </p:txBody>
      </p:sp>
    </p:spTree>
    <p:extLst>
      <p:ext uri="{BB962C8B-B14F-4D97-AF65-F5344CB8AC3E}">
        <p14:creationId xmlns:p14="http://schemas.microsoft.com/office/powerpoint/2010/main" val="3588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Objectives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400" y="1860964"/>
            <a:ext cx="10876547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Explain the impact of physical evidence, with emphasis on the servicescape, customer perceptions, and experiences.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Illustrate differences in types of servicescapes, the roles played by the servicescape, and the implications for strategy.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Explain why the servicescape affects customer and employee behavior, using a framework based in marketing, organizational behavior, and environmental psychology.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Present elements of an effective physical evidence strategy.</a:t>
            </a:r>
          </a:p>
          <a:p>
            <a:pPr marL="0" indent="0">
              <a:buNone/>
            </a:pPr>
            <a:endParaRPr lang="en-US" sz="2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Physical Evidence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8" y="1878807"/>
            <a:ext cx="105637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Physical evidence are tangible cues that </a:t>
            </a:r>
            <a:r>
              <a:rPr lang="en-US" sz="2800" b="1" dirty="0">
                <a:latin typeface="Garamond" panose="02020404030301010803" pitchFamily="18" charset="0"/>
              </a:rPr>
              <a:t>allow customers to evaluate the service</a:t>
            </a:r>
            <a:r>
              <a:rPr lang="en-US" sz="2800" dirty="0">
                <a:latin typeface="Garamond" panose="02020404030301010803" pitchFamily="18" charset="0"/>
              </a:rPr>
              <a:t> before its purchase and to </a:t>
            </a:r>
            <a:r>
              <a:rPr lang="en-US" sz="2800" b="1" dirty="0">
                <a:latin typeface="Garamond" panose="02020404030301010803" pitchFamily="18" charset="0"/>
              </a:rPr>
              <a:t>assess their satisfaction</a:t>
            </a:r>
            <a:r>
              <a:rPr lang="en-US" sz="2800" dirty="0">
                <a:latin typeface="Garamond" panose="02020404030301010803" pitchFamily="18" charset="0"/>
              </a:rPr>
              <a:t> with the service during and after the experience.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This is helpful in closing customer Gap 2 (service standards and design gap).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This includes all elements of the organization’s physical facility as well as other forms of tangible communication (like signs).</a:t>
            </a:r>
          </a:p>
        </p:txBody>
      </p:sp>
    </p:spTree>
    <p:extLst>
      <p:ext uri="{BB962C8B-B14F-4D97-AF65-F5344CB8AC3E}">
        <p14:creationId xmlns:p14="http://schemas.microsoft.com/office/powerpoint/2010/main" val="282678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Elements of Physical Evidence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36D4E-6A93-6A28-A04F-B18AF68F3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054735"/>
              </p:ext>
            </p:extLst>
          </p:nvPr>
        </p:nvGraphicFramePr>
        <p:xfrm>
          <a:off x="997283" y="1369370"/>
          <a:ext cx="10240212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04">
                  <a:extLst>
                    <a:ext uri="{9D8B030D-6E8A-4147-A177-3AD203B41FA5}">
                      <a16:colId xmlns:a16="http://schemas.microsoft.com/office/drawing/2014/main" val="3634682500"/>
                    </a:ext>
                  </a:extLst>
                </a:gridCol>
                <a:gridCol w="3413404">
                  <a:extLst>
                    <a:ext uri="{9D8B030D-6E8A-4147-A177-3AD203B41FA5}">
                      <a16:colId xmlns:a16="http://schemas.microsoft.com/office/drawing/2014/main" val="2723636031"/>
                    </a:ext>
                  </a:extLst>
                </a:gridCol>
                <a:gridCol w="3413404">
                  <a:extLst>
                    <a:ext uri="{9D8B030D-6E8A-4147-A177-3AD203B41FA5}">
                      <a16:colId xmlns:a16="http://schemas.microsoft.com/office/drawing/2014/main" val="236330117"/>
                    </a:ext>
                  </a:extLst>
                </a:gridCol>
              </a:tblGrid>
              <a:tr h="30094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Servicescape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Other Tangibles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Virtual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366414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Garamond" panose="02020404030301010803" pitchFamily="18" charset="0"/>
                        </a:rPr>
                        <a:t>Facility exterior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Business cards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Web pages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460008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Exterior design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Stationery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360-degree videos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966144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Signage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Billing statements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Virtual design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537580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Parking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Reports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Drone footage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136568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Landscape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Employee dress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706306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Surrounding environment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Uniforms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985430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Garamond" panose="02020404030301010803" pitchFamily="18" charset="0"/>
                        </a:rPr>
                        <a:t>Facility interior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Garamond" panose="02020404030301010803" pitchFamily="18" charset="0"/>
                        </a:rPr>
                        <a:t>Brochures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696083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Interior design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Garamond" panose="02020404030301010803" pitchFamily="18" charset="0"/>
                        </a:rPr>
                        <a:t>Virtual </a:t>
                      </a:r>
                      <a:r>
                        <a:rPr lang="en-US" sz="1600" b="1" dirty="0" err="1">
                          <a:latin typeface="Garamond" panose="02020404030301010803" pitchFamily="18" charset="0"/>
                        </a:rPr>
                        <a:t>servicescape</a:t>
                      </a:r>
                      <a:endParaRPr lang="en-US" sz="1600" b="1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939411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Equipment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91176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Signage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626662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Layout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801860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Air quality/ temperature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582101"/>
                  </a:ext>
                </a:extLst>
              </a:tr>
              <a:tr h="300949">
                <a:tc>
                  <a:txBody>
                    <a:bodyPr/>
                    <a:lstStyle/>
                    <a:p>
                      <a:pPr lvl="1"/>
                      <a:r>
                        <a:rPr lang="en-US" sz="1600" dirty="0">
                          <a:latin typeface="Garamond" panose="02020404030301010803" pitchFamily="18" charset="0"/>
                        </a:rPr>
                        <a:t>Sound/ music/ scent/ lighting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536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40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1B0B-1956-8D8E-A674-83A7545C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b="0" dirty="0">
                <a:latin typeface="Garamond" panose="02020404030301010803" pitchFamily="18" charset="0"/>
              </a:rPr>
              <a:t>The process of clearly identifying and managing all the various </a:t>
            </a:r>
            <a:r>
              <a:rPr lang="en-US" sz="4800" b="0" i="1" dirty="0">
                <a:latin typeface="Garamond" panose="02020404030301010803" pitchFamily="18" charset="0"/>
              </a:rPr>
              <a:t>clues</a:t>
            </a:r>
            <a:r>
              <a:rPr lang="en-US" sz="4800" b="0" dirty="0">
                <a:latin typeface="Garamond" panose="02020404030301010803" pitchFamily="18" charset="0"/>
              </a:rPr>
              <a:t> that customers use to form their impressions and feelings about the company.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2036B-61FC-C25E-7417-C869AD49E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102502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Garamond" panose="02020404030301010803" pitchFamily="18" charset="0"/>
              </a:rPr>
              <a:t>Clue Management</a:t>
            </a:r>
          </a:p>
        </p:txBody>
      </p:sp>
    </p:spTree>
    <p:extLst>
      <p:ext uri="{BB962C8B-B14F-4D97-AF65-F5344CB8AC3E}">
        <p14:creationId xmlns:p14="http://schemas.microsoft.com/office/powerpoint/2010/main" val="100614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Typology of Servicescapes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91DA52-C303-687E-486C-0EF52BF1B01D}"/>
              </a:ext>
            </a:extLst>
          </p:cNvPr>
          <p:cNvSpPr txBox="1">
            <a:spLocks/>
          </p:cNvSpPr>
          <p:nvPr/>
        </p:nvSpPr>
        <p:spPr>
          <a:xfrm>
            <a:off x="814138" y="1734425"/>
            <a:ext cx="5281862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u="sng" dirty="0">
                <a:latin typeface="Garamond" panose="02020404030301010803" pitchFamily="18" charset="0"/>
              </a:rPr>
              <a:t>Servicescape Usage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Whom the </a:t>
            </a:r>
            <a:r>
              <a:rPr lang="en-US" sz="2400" dirty="0" err="1">
                <a:latin typeface="Garamond" panose="02020404030301010803" pitchFamily="18" charset="0"/>
              </a:rPr>
              <a:t>servicescape</a:t>
            </a:r>
            <a:r>
              <a:rPr lang="en-US" sz="2400" dirty="0">
                <a:latin typeface="Garamond" panose="02020404030301010803" pitchFamily="18" charset="0"/>
              </a:rPr>
              <a:t> design will affect? Customer, employees, partners, vendors?</a:t>
            </a:r>
          </a:p>
          <a:p>
            <a:r>
              <a:rPr lang="en-US" sz="2400" b="1" dirty="0">
                <a:latin typeface="Garamond" panose="02020404030301010803" pitchFamily="18" charset="0"/>
              </a:rPr>
              <a:t>Three types: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Garamond" panose="02020404030301010803" pitchFamily="18" charset="0"/>
              </a:rPr>
              <a:t>Self-service: customer only, e.g., water park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Garamond" panose="02020404030301010803" pitchFamily="18" charset="0"/>
              </a:rPr>
              <a:t>Interpersonal service: both customer and employee, e.g., hotel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Garamond" panose="02020404030301010803" pitchFamily="18" charset="0"/>
              </a:rPr>
              <a:t>Remote service: employee only, e.g., telecom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B614F8-9CFF-4741-E752-EB8324B27731}"/>
              </a:ext>
            </a:extLst>
          </p:cNvPr>
          <p:cNvSpPr txBox="1">
            <a:spLocks/>
          </p:cNvSpPr>
          <p:nvPr/>
        </p:nvSpPr>
        <p:spPr>
          <a:xfrm>
            <a:off x="6248400" y="1734425"/>
            <a:ext cx="5470358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u="sng" dirty="0">
                <a:latin typeface="Garamond" panose="02020404030301010803" pitchFamily="18" charset="0"/>
              </a:rPr>
              <a:t>Servicescape Complexity</a:t>
            </a:r>
            <a:endParaRPr lang="en-US" sz="2400" dirty="0">
              <a:latin typeface="Garamond" panose="02020404030301010803" pitchFamily="18" charset="0"/>
            </a:endParaRPr>
          </a:p>
          <a:p>
            <a:r>
              <a:rPr lang="en-US" sz="2400" dirty="0">
                <a:latin typeface="Garamond" panose="02020404030301010803" pitchFamily="18" charset="0"/>
              </a:rPr>
              <a:t>Some environments are very simple while others are very complex. 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Simple: lean environments (e.g., ATM)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Elaborate: complex environments (e.g., water park)</a:t>
            </a:r>
          </a:p>
          <a:p>
            <a:endParaRPr lang="en-US" sz="2400" dirty="0">
              <a:latin typeface="Garamond" panose="02020404030301010803" pitchFamily="18" charset="0"/>
            </a:endParaRPr>
          </a:p>
          <a:p>
            <a:endParaRPr lang="en-US" sz="2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07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Servicescape Roles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91DA52-C303-687E-486C-0EF52BF1B01D}"/>
              </a:ext>
            </a:extLst>
          </p:cNvPr>
          <p:cNvSpPr txBox="1">
            <a:spLocks/>
          </p:cNvSpPr>
          <p:nvPr/>
        </p:nvSpPr>
        <p:spPr>
          <a:xfrm>
            <a:off x="814137" y="1734425"/>
            <a:ext cx="5921199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>
                <a:latin typeface="Garamond" panose="02020404030301010803" pitchFamily="18" charset="0"/>
              </a:rPr>
              <a:t>Package:</a:t>
            </a:r>
            <a:r>
              <a:rPr lang="en-US" sz="2800" dirty="0">
                <a:latin typeface="Garamond" panose="02020404030301010803" pitchFamily="18" charset="0"/>
              </a:rPr>
              <a:t> this “wraps” the service and convey to customers an external image of what is inside</a:t>
            </a:r>
          </a:p>
          <a:p>
            <a:r>
              <a:rPr lang="en-US" sz="2800" b="1" u="sng" dirty="0">
                <a:latin typeface="Garamond" panose="02020404030301010803" pitchFamily="18" charset="0"/>
              </a:rPr>
              <a:t>Facilitator:</a:t>
            </a:r>
            <a:r>
              <a:rPr lang="en-US" sz="2800" dirty="0">
                <a:latin typeface="Garamond" panose="02020404030301010803" pitchFamily="18" charset="0"/>
              </a:rPr>
              <a:t> a well-designed, functional facility can make the service a pleasurable experience for both customer and employee.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F07BA-7830-AEAD-E903-A2693EE42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2039" y="1468780"/>
            <a:ext cx="3772926" cy="2121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C9476-BEFE-8565-5B64-4E305F77A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039" y="3688389"/>
            <a:ext cx="3772926" cy="269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9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B6267-AD1E-133B-5C83-A1A3CB2F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0FC1C5-85D9-C141-F43F-9066D090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Servicescape Roles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53F82-50BB-5D01-6E08-584646998F6A}"/>
              </a:ext>
            </a:extLst>
          </p:cNvPr>
          <p:cNvSpPr txBox="1">
            <a:spLocks/>
          </p:cNvSpPr>
          <p:nvPr/>
        </p:nvSpPr>
        <p:spPr>
          <a:xfrm>
            <a:off x="814138" y="1734425"/>
            <a:ext cx="5151764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>
                <a:latin typeface="Garamond" panose="02020404030301010803" pitchFamily="18" charset="0"/>
              </a:rPr>
              <a:t>Socializer:</a:t>
            </a:r>
            <a:r>
              <a:rPr lang="en-US" sz="2800" dirty="0">
                <a:latin typeface="Garamond" panose="02020404030301010803" pitchFamily="18" charset="0"/>
              </a:rPr>
              <a:t> the design can aid in the socialization of employees and customers </a:t>
            </a:r>
          </a:p>
          <a:p>
            <a:r>
              <a:rPr lang="en-US" sz="2800" b="1" u="sng" dirty="0">
                <a:latin typeface="Garamond" panose="02020404030301010803" pitchFamily="18" charset="0"/>
              </a:rPr>
              <a:t>Differentiator:</a:t>
            </a:r>
            <a:r>
              <a:rPr lang="en-US" sz="2800" dirty="0">
                <a:latin typeface="Garamond" panose="02020404030301010803" pitchFamily="18" charset="0"/>
              </a:rPr>
              <a:t> can be used to reposition a firm and/or attract new market segments.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B5EDE4-C538-EE05-34A9-E9FAAF2C9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707" y="1563331"/>
            <a:ext cx="4675032" cy="2027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00A2DB-0CB1-EF13-22DE-4188ED6DDD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65034" y="3633741"/>
            <a:ext cx="3637218" cy="242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1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Guidelines for Physical Evidence Strategy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91DA52-C303-687E-486C-0EF52BF1B01D}"/>
              </a:ext>
            </a:extLst>
          </p:cNvPr>
          <p:cNvSpPr txBox="1">
            <a:spLocks/>
          </p:cNvSpPr>
          <p:nvPr/>
        </p:nvSpPr>
        <p:spPr>
          <a:xfrm>
            <a:off x="814137" y="1734425"/>
            <a:ext cx="10760242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Recognize the strategic impact of physical evidence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Blueprint the physical evidence of service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Clarify strategic roles of the servicescape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Assess and identify physical evidence opportunities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Update and modernize the evidence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Work cross-functionally</a:t>
            </a:r>
            <a:endParaRPr lang="en-US" sz="2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6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diamondgrid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mondgrid theme" id="{ED93937A-9EDD-431C-AF40-A6218FC4DE09}" vid="{8CDF1396-6A4F-4529-B9C5-69BA7F395D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diamondgrid theme</Template>
  <TotalTime>4541</TotalTime>
  <Words>447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Garamond</vt:lpstr>
      <vt:lpstr>diamondgrid theme</vt:lpstr>
      <vt:lpstr>PowerPoint Presentation</vt:lpstr>
      <vt:lpstr>Chapter Objectives</vt:lpstr>
      <vt:lpstr>Physical Evidence</vt:lpstr>
      <vt:lpstr>Elements of Physical Evidence</vt:lpstr>
      <vt:lpstr>The process of clearly identifying and managing all the various clues that customers use to form their impressions and feelings about the company. </vt:lpstr>
      <vt:lpstr>Typology of Servicescapes</vt:lpstr>
      <vt:lpstr>Servicescape Roles</vt:lpstr>
      <vt:lpstr>Servicescape Roles</vt:lpstr>
      <vt:lpstr>Guidelines for Physical Evidence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 Anh Nu Ton</dc:creator>
  <cp:lastModifiedBy>Madhur Mohan</cp:lastModifiedBy>
  <cp:revision>259</cp:revision>
  <dcterms:created xsi:type="dcterms:W3CDTF">2021-01-26T21:27:35Z</dcterms:created>
  <dcterms:modified xsi:type="dcterms:W3CDTF">2026-10-15T04:16:10Z</dcterms:modified>
</cp:coreProperties>
</file>